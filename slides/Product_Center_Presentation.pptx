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488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22C55E"/>
                </a:solidFill>
                <a:latin typeface="Calibri"/>
              </a:defRPr>
            </a:pPr>
            <a:r>
              <a:t>PRODUCT CENTER CONSULTATIVE BRIEFING</a:t>
            </a:r>
          </a:p>
          <a:p>
            <a:pPr>
              <a:spcAft>
                <a:spcPts val="800"/>
              </a:spcAft>
              <a:defRPr sz="3800" b="1">
                <a:solidFill>
                  <a:srgbClr val="FFFFFF"/>
                </a:solidFill>
                <a:latin typeface="Cambria"/>
              </a:defRPr>
            </a:pPr>
            <a:r>
              <a:t>Triangulation from Imperfect Sources</a:t>
            </a:r>
          </a:p>
          <a:p>
            <a:pPr>
              <a:spcAft>
                <a:spcPts val="2800"/>
              </a:spcAft>
              <a:defRPr sz="2000">
                <a:solidFill>
                  <a:srgbClr val="CBD5E1"/>
                </a:solidFill>
                <a:latin typeface="Calibri"/>
              </a:defRPr>
            </a:pPr>
            <a:r>
              <a:t>An Evidence-Based Information Strategy for CPG Venture Validation</a:t>
            </a:r>
          </a:p>
          <a:p>
            <a:pPr>
              <a:defRPr sz="1600" i="1">
                <a:solidFill>
                  <a:srgbClr val="22C55E"/>
                </a:solidFill>
                <a:latin typeface="Cambria"/>
              </a:defRPr>
            </a:pPr>
            <a:r>
              <a:t>"Intuition sparks the venture; library evidence proves it."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4532D"/>
                </a:solidFill>
                <a:latin typeface="Calibri"/>
              </a:defRPr>
            </a:pPr>
            <a:r>
              <a:t>PRODUCT CENTER PARTNERSHIP</a:t>
            </a:r>
          </a:p>
          <a:p>
            <a:pPr>
              <a:defRPr sz="2000" b="1">
                <a:solidFill>
                  <a:srgbClr val="0F172A"/>
                </a:solidFill>
                <a:latin typeface="Cambria"/>
              </a:defRPr>
            </a:pPr>
            <a:r>
              <a:t>The Compliant Commercial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3328416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82880" bIns="182880"/>
          <a:lstStyle/>
          <a:p>
            <a:pPr algn="l">
              <a:spcAft>
                <a:spcPts val="1000"/>
              </a:spcAft>
              <a:defRPr sz="1500" b="1">
                <a:solidFill>
                  <a:srgbClr val="0F172A"/>
                </a:solidFill>
                <a:latin typeface="Cambria"/>
              </a:defRPr>
            </a:pPr>
            <a:r>
              <a:t>1. Michigan eLibrary (MeL)</a:t>
            </a:r>
          </a:p>
          <a:p>
            <a:pPr algn="l" indent="-137160" marL="13716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sz="1150">
                <a:solidFill>
                  <a:srgbClr val="475569"/>
                </a:solidFill>
                <a:latin typeface="Calibri"/>
              </a:rPr>
              <a:t>AtoZdatabases: B2B sales lists, NAICS/SIC industry code filtering, and competitor radius mapping.</a:t>
            </a:r>
          </a:p>
          <a:p>
            <a:pPr algn="l" indent="-137160" marL="13716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sz="1150">
                <a:solidFill>
                  <a:srgbClr val="475569"/>
                </a:solidFill>
                <a:latin typeface="Calibri"/>
              </a:rPr>
              <a:t>DemographicsNow: Local demographic profiles, household income metrics, and geographic heatmaps.</a:t>
            </a:r>
          </a:p>
          <a:p>
            <a:pPr algn="l" indent="-137160" marL="13716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sz="1150">
                <a:solidFill>
                  <a:srgbClr val="475569"/>
                </a:solidFill>
                <a:latin typeface="Calibri"/>
              </a:rPr>
              <a:t>100% state-funded and commercially compliant for Michigan businesses.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600200"/>
            <a:ext cx="3328416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82880" bIns="182880"/>
          <a:lstStyle/>
          <a:p>
            <a:pPr algn="l">
              <a:spcAft>
                <a:spcPts val="1000"/>
              </a:spcAft>
              <a:defRPr sz="1500" b="1">
                <a:solidFill>
                  <a:srgbClr val="0F172A"/>
                </a:solidFill>
                <a:latin typeface="Cambria"/>
              </a:defRPr>
            </a:pPr>
            <a:r>
              <a:t>2. Public &amp; Gov Repositories</a:t>
            </a:r>
          </a:p>
          <a:p>
            <a:pPr algn="l" indent="-137160" marL="13716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sz="1150">
                <a:solidFill>
                  <a:srgbClr val="475569"/>
                </a:solidFill>
                <a:latin typeface="Calibri"/>
              </a:rPr>
              <a:t>US Census Bureau &amp; BEA: Baseline population ratios and regional macroeconomic metrics.</a:t>
            </a:r>
          </a:p>
          <a:p>
            <a:pPr algn="l" indent="-137160" marL="13716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sz="1150">
                <a:solidFill>
                  <a:srgbClr val="475569"/>
                </a:solidFill>
                <a:latin typeface="Calibri"/>
              </a:rPr>
              <a:t>USDA &amp; FDA: Official ingredient standards, regulatory guidelines, and nutrition labeling rules.</a:t>
            </a:r>
          </a:p>
          <a:p>
            <a:pPr algn="l" indent="-137160" marL="13716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sz="1150">
                <a:solidFill>
                  <a:srgbClr val="475569"/>
                </a:solidFill>
                <a:latin typeface="Calibri"/>
              </a:rPr>
              <a:t>Public domain datasets: Legally unassailable and fully accessible to clients permanently.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1600200"/>
            <a:ext cx="3328416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82880" bIns="182880"/>
          <a:lstStyle/>
          <a:p>
            <a:pPr algn="l">
              <a:spcAft>
                <a:spcPts val="1000"/>
              </a:spcAft>
              <a:defRPr sz="1500" b="1">
                <a:solidFill>
                  <a:srgbClr val="14532D"/>
                </a:solidFill>
                <a:latin typeface="Cambria"/>
              </a:defRPr>
            </a:pPr>
            <a:r>
              <a:t>3. Trade &amp; Open Web</a:t>
            </a:r>
          </a:p>
          <a:p>
            <a:pPr algn="l" indent="-137160" marL="13716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sz="1150">
                <a:solidFill>
                  <a:srgbClr val="475569"/>
                </a:solidFill>
                <a:latin typeface="Calibri"/>
              </a:rPr>
              <a:t>Industry Associations: High-level market figures (e.g., Outdoor Industry Assoc., National Confectioners Assoc.).</a:t>
            </a:r>
          </a:p>
          <a:p>
            <a:pPr algn="l" indent="-137160" marL="13716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sz="1150">
                <a:solidFill>
                  <a:srgbClr val="475569"/>
                </a:solidFill>
                <a:latin typeface="Calibri"/>
              </a:rPr>
              <a:t>Specialty Grocers &amp; Market Stubs: Benchmark pricing from outlets like Mouth.com or FairTrade America.</a:t>
            </a:r>
          </a:p>
          <a:p>
            <a:pPr algn="l" indent="-137160" marL="13716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sz="1150">
                <a:solidFill>
                  <a:srgbClr val="475569"/>
                </a:solidFill>
                <a:latin typeface="Calibri"/>
              </a:rPr>
              <a:t>Academic tools note: IBISWorld/Mintel sit behind strict educational walls and are not used for third-party client hand-offs.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475569"/>
                </a:solidFill>
                <a:latin typeface="Calibri"/>
              </a:defRPr>
            </a:pPr>
            <a:r>
              <a:t>Navigating licensing boundaries across three compliant source tiers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4532D"/>
                </a:solidFill>
                <a:latin typeface="Calibri"/>
              </a:defRPr>
            </a:pPr>
            <a:r>
              <a:t>PRODUCT CENTER PARTNERSHIP</a:t>
            </a:r>
          </a:p>
          <a:p>
            <a:pPr>
              <a:defRPr sz="2000" b="1">
                <a:solidFill>
                  <a:srgbClr val="0F172A"/>
                </a:solidFill>
                <a:latin typeface="Cambria"/>
              </a:defRPr>
            </a:pPr>
            <a:r>
              <a:t>Core Tactical Moves: Triangulating Imperfect 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3328416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82880" bIns="182880"/>
          <a:lstStyle/>
          <a:p>
            <a:pPr algn="l">
              <a:spcAft>
                <a:spcPts val="1000"/>
              </a:spcAft>
              <a:defRPr sz="1500" b="1">
                <a:solidFill>
                  <a:srgbClr val="0F172A"/>
                </a:solidFill>
                <a:latin typeface="Cambria"/>
              </a:defRPr>
            </a:pPr>
            <a:r>
              <a:t>Move 1: Pivot to Umbrella Drivers</a:t>
            </a:r>
          </a:p>
          <a:p>
            <a:pPr algn="l" indent="-137160" marL="13716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sz="1150">
                <a:solidFill>
                  <a:srgbClr val="475569"/>
                </a:solidFill>
                <a:latin typeface="Calibri"/>
              </a:rPr>
              <a:t>Challenge: Niche concepts (e.g., local vegan cookies) lack direct market reports.</a:t>
            </a:r>
          </a:p>
          <a:p>
            <a:pPr algn="l" indent="-137160" marL="13716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sz="1150">
                <a:solidFill>
                  <a:srgbClr val="475569"/>
                </a:solidFill>
                <a:latin typeface="Calibri"/>
              </a:rPr>
              <a:t>Tactical move: Zoom out to macro consumer shifts.</a:t>
            </a:r>
          </a:p>
          <a:p>
            <a:pPr algn="l" indent="-137160" marL="13716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sz="1150">
                <a:solidFill>
                  <a:srgbClr val="475569"/>
                </a:solidFill>
                <a:latin typeface="Calibri"/>
              </a:rPr>
              <a:t>Execution: Benchmark against flexitarianism (36% of US consumers) and Gen Z/Millennial ESG spending trends.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600200"/>
            <a:ext cx="3328416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82880" bIns="182880"/>
          <a:lstStyle/>
          <a:p>
            <a:pPr algn="l">
              <a:spcAft>
                <a:spcPts val="1000"/>
              </a:spcAft>
              <a:defRPr sz="1500" b="1">
                <a:solidFill>
                  <a:srgbClr val="0F172A"/>
                </a:solidFill>
                <a:latin typeface="Cambria"/>
              </a:defRPr>
            </a:pPr>
            <a:r>
              <a:t>Move 2: Apply Proxy Modeling</a:t>
            </a:r>
          </a:p>
          <a:p>
            <a:pPr algn="l" indent="-137160" marL="13716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sz="1150">
                <a:solidFill>
                  <a:srgbClr val="475569"/>
                </a:solidFill>
                <a:latin typeface="Calibri"/>
              </a:rPr>
              <a:t>Challenge: Early-stage food ventures have no budget for $5,000 custom market data.</a:t>
            </a:r>
          </a:p>
          <a:p>
            <a:pPr algn="l" indent="-137160" marL="13716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sz="1150">
                <a:solidFill>
                  <a:srgbClr val="475569"/>
                </a:solidFill>
                <a:latin typeface="Calibri"/>
              </a:rPr>
              <a:t>Tactical move: Calculate local baselines using national trade totals.</a:t>
            </a:r>
          </a:p>
          <a:p>
            <a:pPr algn="l" indent="-137160" marL="13716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sz="1150">
                <a:solidFill>
                  <a:srgbClr val="475569"/>
                </a:solidFill>
                <a:latin typeface="Calibri"/>
              </a:rPr>
              <a:t>Execution: Multiply national camping/specialty food totals (OIA, KOA) by Michigan's ~3% population ratio.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1600200"/>
            <a:ext cx="3328416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82880" bIns="182880"/>
          <a:lstStyle/>
          <a:p>
            <a:pPr algn="l">
              <a:spcAft>
                <a:spcPts val="1000"/>
              </a:spcAft>
              <a:defRPr sz="1500" b="1">
                <a:solidFill>
                  <a:srgbClr val="0F172A"/>
                </a:solidFill>
                <a:latin typeface="Cambria"/>
              </a:defRPr>
            </a:pPr>
            <a:r>
              <a:t>Move 3: Cross-Category Matching</a:t>
            </a:r>
          </a:p>
          <a:p>
            <a:pPr algn="l" indent="-137160" marL="13716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sz="1150">
                <a:solidFill>
                  <a:srgbClr val="475569"/>
                </a:solidFill>
                <a:latin typeface="Calibri"/>
              </a:rPr>
              <a:t>Challenge: Standard commodity pricing creates margin compression.</a:t>
            </a:r>
          </a:p>
          <a:p>
            <a:pPr algn="l" indent="-137160" marL="13716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sz="1150">
                <a:solidFill>
                  <a:srgbClr val="475569"/>
                </a:solidFill>
                <a:latin typeface="Calibri"/>
              </a:rPr>
              <a:t>Tactical move: Borrow positioning tactics from adjacent high-margin industries.</a:t>
            </a:r>
          </a:p>
          <a:p>
            <a:pPr algn="l" indent="-137160" marL="13716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sz="1150">
                <a:solidFill>
                  <a:srgbClr val="475569"/>
                </a:solidFill>
                <a:latin typeface="Calibri"/>
              </a:rPr>
              <a:t>Execution: Elevate premium maple syrup with craft-spirit-style packaging, barrel-aging narratives, and tasting notes.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4532D"/>
                </a:solidFill>
                <a:latin typeface="Calibri"/>
              </a:defRPr>
            </a:pPr>
            <a:r>
              <a:t>PRODUCT CENTER PARTNERSHIP</a:t>
            </a:r>
          </a:p>
          <a:p>
            <a:pPr>
              <a:defRPr sz="2000" b="1">
                <a:solidFill>
                  <a:srgbClr val="0F172A"/>
                </a:solidFill>
                <a:latin typeface="Cambria"/>
              </a:defRPr>
            </a:pPr>
            <a:r>
              <a:t>Targeted AI (CRAFT Framework) &amp; Permissible Deliverables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5175504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82880" bIns="182880"/>
          <a:lstStyle/>
          <a:p>
            <a:pPr algn="l">
              <a:spcAft>
                <a:spcPts val="1000"/>
              </a:spcAft>
              <a:defRPr sz="1500" b="1">
                <a:solidFill>
                  <a:srgbClr val="0F172A"/>
                </a:solidFill>
                <a:latin typeface="Cambria"/>
              </a:defRPr>
            </a:pPr>
            <a:r>
              <a:t>The CRAFT Prompting Engine for GenAI</a:t>
            </a:r>
          </a:p>
          <a:p>
            <a:pPr algn="l" indent="-137160" marL="13716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sz="1150">
                <a:solidFill>
                  <a:srgbClr val="475569"/>
                </a:solidFill>
                <a:latin typeface="Calibri"/>
              </a:rPr>
              <a:t>Context: Ground the AI in venture specifics (e.g., Native-owned beef jerky / Tanka Bar).</a:t>
            </a:r>
          </a:p>
          <a:p>
            <a:pPr algn="l" indent="-137160" marL="13716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sz="1150">
                <a:solidFill>
                  <a:srgbClr val="475569"/>
                </a:solidFill>
                <a:latin typeface="Calibri"/>
              </a:rPr>
              <a:t>Role: Assign a specific mentor persona (e.g., CPG market expansion advisor).</a:t>
            </a:r>
          </a:p>
          <a:p>
            <a:pPr algn="l" indent="-137160" marL="13716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sz="1150">
                <a:solidFill>
                  <a:srgbClr val="475569"/>
                </a:solidFill>
                <a:latin typeface="Calibri"/>
              </a:rPr>
              <a:t>Action: Define an explicit synthesis task (e.g., benchmark values-based premium pricing).</a:t>
            </a:r>
          </a:p>
          <a:p>
            <a:pPr algn="l" indent="-137160" marL="13716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sz="1150">
                <a:solidFill>
                  <a:srgbClr val="475569"/>
                </a:solidFill>
                <a:latin typeface="Calibri"/>
              </a:rPr>
              <a:t>Format: Instruct output in structured bullet points with explicit source citations.</a:t>
            </a:r>
          </a:p>
          <a:p>
            <a:pPr algn="l" indent="-137160" marL="13716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sz="1150">
                <a:solidFill>
                  <a:srgbClr val="475569"/>
                </a:solidFill>
                <a:latin typeface="Calibri"/>
              </a:rPr>
              <a:t>Tone: Require direct, plain English without marketing fluff.</a:t>
            </a:r>
          </a:p>
          <a:p>
            <a:pPr algn="l" indent="-137160" marL="13716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sz="1150">
                <a:solidFill>
                  <a:srgbClr val="475569"/>
                </a:solidFill>
                <a:latin typeface="Calibri"/>
              </a:rPr>
              <a:t>Essential rule: Instruct the AI to flag missing data and grade its own confidence level.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72784" y="1600200"/>
            <a:ext cx="5175504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82880" bIns="182880"/>
          <a:lstStyle/>
          <a:p>
            <a:pPr algn="l">
              <a:spcAft>
                <a:spcPts val="1000"/>
              </a:spcAft>
              <a:defRPr sz="1500" b="1">
                <a:solidFill>
                  <a:srgbClr val="14532D"/>
                </a:solidFill>
                <a:latin typeface="Cambria"/>
              </a:defRPr>
            </a:pPr>
            <a:r>
              <a:t>Permissible Client Deliverables</a:t>
            </a:r>
          </a:p>
          <a:p>
            <a:pPr algn="l" indent="-137160" marL="13716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sz="1150">
                <a:solidFill>
                  <a:srgbClr val="475569"/>
                </a:solidFill>
                <a:latin typeface="Calibri"/>
              </a:rPr>
              <a:t>Curated open-web research folders: Organized links to government repositories and trade press.</a:t>
            </a:r>
          </a:p>
          <a:p>
            <a:pPr algn="l" indent="-137160" marL="13716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sz="1150">
                <a:solidFill>
                  <a:srgbClr val="475569"/>
                </a:solidFill>
                <a:latin typeface="Calibri"/>
              </a:rPr>
              <a:t>Synthesized market summaries: Custom executive briefs highlighting macro trends and proxy math.</a:t>
            </a:r>
          </a:p>
          <a:p>
            <a:pPr algn="l" indent="-137160" marL="13716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sz="1150">
                <a:solidFill>
                  <a:srgbClr val="475569"/>
                </a:solidFill>
                <a:latin typeface="Calibri"/>
              </a:rPr>
              <a:t>Targeted search operators: Ready-to-use search strings (e.g., site:.gov, filetype:pdf).</a:t>
            </a:r>
          </a:p>
          <a:p>
            <a:pPr algn="l" indent="-137160" marL="13716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sz="1150">
                <a:solidFill>
                  <a:srgbClr val="475569"/>
                </a:solidFill>
                <a:latin typeface="Calibri"/>
              </a:rPr>
              <a:t>AtoZ lead spreadsheets: Full B2B prospect lists, competitor locations, and contact info from MeL.</a:t>
            </a:r>
          </a:p>
          <a:p>
            <a:pPr algn="l" indent="-137160" marL="13716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sz="1150">
                <a:solidFill>
                  <a:srgbClr val="475569"/>
                </a:solidFill>
                <a:latin typeface="Calibri"/>
              </a:rPr>
              <a:t>10% excerpt limit: Direct quotes or data from proprietary sources are strictly capped at 10%.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4532D"/>
                </a:solidFill>
                <a:latin typeface="Calibri"/>
              </a:defRPr>
            </a:pPr>
            <a:r>
              <a:t>PRODUCT CENTER PARTNERSHIP</a:t>
            </a:r>
          </a:p>
          <a:p>
            <a:pPr>
              <a:defRPr sz="2000" b="1">
                <a:solidFill>
                  <a:srgbClr val="0F172A"/>
                </a:solidFill>
                <a:latin typeface="Cambria"/>
              </a:defRPr>
            </a:pPr>
            <a:r>
              <a:t>The Counselor Hand-Off &amp; Triad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3328416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82880" bIns="182880"/>
          <a:lstStyle/>
          <a:p>
            <a:pPr algn="l">
              <a:spcAft>
                <a:spcPts val="1000"/>
              </a:spcAft>
              <a:defRPr sz="1500" b="1">
                <a:solidFill>
                  <a:srgbClr val="0F172A"/>
                </a:solidFill>
                <a:latin typeface="Cambria"/>
              </a:defRPr>
            </a:pPr>
            <a:r>
              <a:t>1. Counselor Intake</a:t>
            </a:r>
          </a:p>
          <a:p>
            <a:pPr algn="l" indent="-137160" marL="13716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sz="1150">
                <a:solidFill>
                  <a:srgbClr val="475569"/>
                </a:solidFill>
                <a:latin typeface="Calibri"/>
              </a:rPr>
              <a:t>Frames the venture challenge with the client during initial meetings.</a:t>
            </a:r>
          </a:p>
          <a:p>
            <a:pPr algn="l" indent="-137160" marL="13716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sz="1150">
                <a:solidFill>
                  <a:srgbClr val="475569"/>
                </a:solidFill>
                <a:latin typeface="Calibri"/>
              </a:rPr>
              <a:t>Applies the three-part compliant stack (MeL, gov data, trade press) directly.</a:t>
            </a:r>
          </a:p>
          <a:p>
            <a:pPr algn="l" indent="-137160" marL="13716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sz="1150">
                <a:solidFill>
                  <a:srgbClr val="475569"/>
                </a:solidFill>
                <a:latin typeface="Calibri"/>
              </a:rPr>
              <a:t>Identifies complex data gaps requiring strategic search design.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600200"/>
            <a:ext cx="3328416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82880" bIns="182880"/>
          <a:lstStyle/>
          <a:p>
            <a:pPr algn="l">
              <a:spcAft>
                <a:spcPts val="1000"/>
              </a:spcAft>
              <a:defRPr sz="1500" b="1">
                <a:solidFill>
                  <a:srgbClr val="14532D"/>
                </a:solidFill>
                <a:latin typeface="Cambria"/>
              </a:defRPr>
            </a:pPr>
            <a:r>
              <a:t>2. Librarian Partner</a:t>
            </a:r>
          </a:p>
          <a:p>
            <a:pPr algn="l" indent="-137160" marL="13716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sz="1150">
                <a:solidFill>
                  <a:srgbClr val="475569"/>
                </a:solidFill>
                <a:latin typeface="Calibri"/>
              </a:rPr>
              <a:t>Co-designs search strategies for non-obvious or hard-to-search niches.</a:t>
            </a:r>
          </a:p>
          <a:p>
            <a:pPr algn="l" indent="-137160" marL="13716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sz="1150">
                <a:solidFill>
                  <a:srgbClr val="475569"/>
                </a:solidFill>
                <a:latin typeface="Calibri"/>
              </a:rPr>
              <a:t>Constructs targeted CRAFT AI prompts and identifies valid proxy datasets.</a:t>
            </a:r>
          </a:p>
          <a:p>
            <a:pPr algn="l" indent="-137160" marL="13716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sz="1150">
                <a:solidFill>
                  <a:srgbClr val="475569"/>
                </a:solidFill>
                <a:latin typeface="Calibri"/>
              </a:rPr>
              <a:t>Guides counselors and entrepreneurs through pattern matching.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1600200"/>
            <a:ext cx="3328416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82880" bIns="182880"/>
          <a:lstStyle/>
          <a:p>
            <a:pPr algn="l">
              <a:spcAft>
                <a:spcPts val="1000"/>
              </a:spcAft>
              <a:defRPr sz="1500" b="1">
                <a:solidFill>
                  <a:srgbClr val="0F172A"/>
                </a:solidFill>
                <a:latin typeface="Cambria"/>
              </a:defRPr>
            </a:pPr>
            <a:r>
              <a:t>3. Entrepreneur Ownership</a:t>
            </a:r>
          </a:p>
          <a:p>
            <a:pPr algn="l" indent="-137160" marL="13716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sz="1150">
                <a:solidFill>
                  <a:srgbClr val="475569"/>
                </a:solidFill>
                <a:latin typeface="Calibri"/>
              </a:rPr>
              <a:t>Evaluates source credibility and cross-checks assumptions.</a:t>
            </a:r>
          </a:p>
          <a:p>
            <a:pPr algn="l" indent="-137160" marL="13716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sz="1150">
                <a:solidFill>
                  <a:srgbClr val="475569"/>
                </a:solidFill>
                <a:latin typeface="Calibri"/>
              </a:rPr>
              <a:t>Calculates unit economics, margin structures, and proxy market sizes.</a:t>
            </a:r>
          </a:p>
          <a:p>
            <a:pPr algn="l" indent="-137160" marL="13716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sz="1150">
                <a:solidFill>
                  <a:srgbClr val="475569"/>
                </a:solidFill>
                <a:latin typeface="Calibri"/>
              </a:rPr>
              <a:t>Owns final financial projections and pitch deck validation.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